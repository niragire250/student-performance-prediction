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PASS</c:v>
                  </c:pt>
                  <c:pt idx="1">
                    <c:v>FAIL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265</c:v>
                </c:pt>
                <c:pt idx="1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Untuned Baseline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88.6</c:v>
                </c:pt>
                <c:pt idx="1">
                  <c:v>94</c:v>
                </c:pt>
                <c:pt idx="2">
                  <c:v>88.7</c:v>
                </c:pt>
                <c:pt idx="3">
                  <c:v>91.3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 Final Model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89.9</c:v>
                </c:pt>
                <c:pt idx="1">
                  <c:v>95.9</c:v>
                </c:pt>
                <c:pt idx="2">
                  <c:v>88.7</c:v>
                </c:pt>
                <c:pt idx="3">
                  <c:v>92.2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914400"/>
            <a:ext cx="3291840" cy="3291840"/>
          </a:xfrm>
          <a:prstGeom prst="ellipse">
            <a:avLst/>
          </a:prstGeom>
          <a:solidFill>
            <a:srgbClr val="24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CAT2 PRACTICAL ASSESSMENT  ·  PYTHON AND FUNDAMENTALS OF AI  ·  ITLPA701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System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Decision-Support Tool for Academic Early Warning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19456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120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Polytechnic — Ngoma College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ICT  ·  Trade: IT  ·  RTQF Level VI, Year 3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Trainer: Eng. UWAMAHORO Leopord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early-warning model, and what this project set out to 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usually discover a struggling student only once final grades are published — too late to intervene. Can we predict, from information available earlier in the term, whether a student will pass or fail?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Objective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5740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evaluate and deploy a machine-learning system that predicts PASS / FAIL outcomes from real student data, packaged as an explainable, interactive web application.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43068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clean a real dataset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411480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9704" y="43068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9704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 to justify choices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1584" y="411480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43068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6176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2" y="4114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non-leaking features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2669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5074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tune ML models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25112" y="507492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9704" y="52669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89704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83480" y="5074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proper metrics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1584" y="5074920"/>
            <a:ext cx="36118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6176" y="526694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66176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5074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Streamlit web app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peer-reviewed dataset — not synthetic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618488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395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59152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91840" y="1618488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359152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attributes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35040" y="1618488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359152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778240" y="1618488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359152"/>
            <a:ext cx="2606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66751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33375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Student Performance Data Set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749040"/>
            <a:ext cx="6126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Citation: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Cortez &amp; Silva (2008), Proceedings of 5th FUBUTEC, Porto, Portugal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Subjects: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Portuguese secondary schools (Math course)</a:t>
            </a:r>
            <a:endParaRPr lang="en-US" sz="13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 G3 (0–20) → binary PASS/FAIL (PASS if G3 ≥ 10)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406640" y="315468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266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Balance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589520" y="3657600"/>
          <a:ext cx="38404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pipeline guarantees training and prediction never drift apart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550416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06448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52168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808224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64256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9976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66032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22064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67784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323840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79872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5592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1648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37680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83400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(Pipeline)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39456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95488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41208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97264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53296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99016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355072" y="196596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11104" y="1965960"/>
            <a:ext cx="100177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656824" y="1965960"/>
            <a:ext cx="910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(joblib)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PIPELINE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611880"/>
            <a:ext cx="163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611880"/>
            <a:ext cx="153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179320" y="36118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35352" y="3611880"/>
            <a:ext cx="163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81072" y="3611880"/>
            <a:ext cx="153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066032" y="36118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22064" y="3611880"/>
            <a:ext cx="163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67784" y="3611880"/>
            <a:ext cx="153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952744" y="36118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08776" y="3611880"/>
            <a:ext cx="163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54496" y="3611880"/>
            <a:ext cx="153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Pipeline)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839456" y="36118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95488" y="3611880"/>
            <a:ext cx="163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41208" y="3611880"/>
            <a:ext cx="153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726168" y="361188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982200" y="3611880"/>
            <a:ext cx="1630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27920" y="3611880"/>
            <a:ext cx="153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68680" y="52303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fitted scikit-learn </a:t>
            </a:r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(preprocessing + model) is saved once with joblib and reused, unchanged, for every live prediction — eliminating any train/serve mismatch.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derived features — none of them uses G3, so none leaks the target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45920"/>
            <a:ext cx="3209544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64592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average_prior_grade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0391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(G1 + G2) /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33172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less-noisy summary of prior performance.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45920"/>
            <a:ext cx="3209544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164592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grade_trend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0391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G2 − G1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33172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whether a student is improving or declining.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1645920"/>
            <a:ext cx="3209544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2752" y="164592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total_study_support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0391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of support flags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233172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schoolsup, famsup &amp; paid classes into one score.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429000"/>
            <a:ext cx="3209544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342900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parental_education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8221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(Medu + Fedu) / 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1148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two correlated home-environment indicators.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5112" y="324612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3429000"/>
            <a:ext cx="3209544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26280" y="342900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social_alcohol_index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38221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Dalc + Walc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1148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from two correlated weekday/weekend columns.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01584" y="3246120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02752" y="3429000"/>
            <a:ext cx="3209544" cy="347472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02752" y="3429000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attendance_risk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38221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absences &gt; 10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302752" y="41148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flag for a highly skewed raw variable.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&amp; Tuning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compared with 5-fold cross-validation, then tuned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CV Accuracy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CV F1-score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CV Precision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CV Recall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Gradient Boosting  ★ selected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92.7%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94.6%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94.4%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94.8%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92.7%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94.5%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96.2%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92.9%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91.8%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93.9%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520440"/>
            <a:ext cx="6675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3703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— Best Hyperparameters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148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2  (shallow trees — limits overfitting on a small dataset)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0.1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cross-validated F1-score: 0.958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06640" y="146304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266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14884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cross-validated F1-score among the three candidates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sequentially, each correcting the last — strong on small tabular datasets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 without heavy manual engineering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over Random Forest is small — evidence-based, not decisive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Final Tuned Model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once on 79 held-out students the model never saw during training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664208"/>
            <a:ext cx="2103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31643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88920" y="1664208"/>
            <a:ext cx="2103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631643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0" y="1664208"/>
            <a:ext cx="2103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88.7%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631643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155448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69480" y="1664208"/>
            <a:ext cx="2103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631643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0" y="155448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09760" y="1664208"/>
            <a:ext cx="210312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2631643"/>
            <a:ext cx="2103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66751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3749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Made a Real, Measured Improvement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31520" y="4160520"/>
          <a:ext cx="6309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7406640" y="3566160"/>
            <a:ext cx="4206240" cy="2697480"/>
          </a:xfrm>
          <a:prstGeom prst="roundRect">
            <a:avLst>
              <a:gd name="adj" fmla="val 2712"/>
            </a:avLst>
          </a:prstGeom>
          <a:solidFill>
            <a:srgbClr val="CADCF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266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4160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95.9%: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predicts PASS, it is right 96% of the time.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88.7%: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89% of students who actually pass.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Error Analysis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test students — which errors matter most for a student-welfare tool?</a:t>
            </a:r>
            <a:endParaRPr lang="en-US" sz="1400" dirty="0"/>
          </a:p>
        </p:txBody>
      </p:sp>
      <p:pic>
        <p:nvPicPr>
          <p:cNvPr id="6" name="Image 0" descr="/home/claude/student-performance-prediction/reports/figures/06_confusion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08760"/>
            <a:ext cx="42062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66360" y="1600200"/>
            <a:ext cx="6446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0" y="160020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709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FAIL → Predicted FAIL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0756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66360" y="2697480"/>
            <a:ext cx="6446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2697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2807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FAIL → Predicted PASS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1729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 missed — the costliest error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66360" y="3794760"/>
            <a:ext cx="6446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0" y="37947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044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PASS → Predicted FAIL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42702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unnecessarily — lower-cost error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66360" y="4892040"/>
            <a:ext cx="6446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03520" y="489204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PASS → Predicted PASS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67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Trade-off: Predicting Earlier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prior grades G1/G2 aren’t available yet?</a:t>
            </a:r>
            <a:endParaRPr lang="en-US" sz="1400" dirty="0"/>
          </a:p>
        </p:txBody>
      </p:sp>
      <p:pic>
        <p:nvPicPr>
          <p:cNvPr id="6" name="Image 0" descr="/home/claude/student-performance-prediction/reports/figures/07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12648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46304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69480" y="1691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 alone drives ~82% of the model’s decisions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606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retrained WITHOUT G1/G2 shows how much accuracy depends on already having those grades.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3749040"/>
          <a:ext cx="466344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4630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 G1/G2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Without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</a:rPr>
                        <a:t>89.9%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7A5F"/>
                          </a:solidFill>
                        </a:rPr>
                        <a:t>67.1%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</a:rPr>
                        <a:t>92.2%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7A5F"/>
                          </a:solidFill>
                        </a:rPr>
                        <a:t>78.7%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</a:rPr>
                        <a:t>94.3%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07A5F"/>
                          </a:solidFill>
                        </a:rPr>
                        <a:t>64.8%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949440" y="56235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early prediction is possible, but noticeably less reliable — the dashboard reports both numbers transparently.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Application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pages — from overview to live, explainable predictions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83080"/>
            <a:ext cx="26974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14884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743200"/>
            <a:ext cx="2368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purpose, how the system works, and a clear disclaimer.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15087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5087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1783080"/>
            <a:ext cx="26974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10712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214884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Performance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75304" y="2743200"/>
            <a:ext cx="2368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Data-entry form → PASS/FAIL prediction with confidence &amp; interpretation.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15087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72784" y="15087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72784" y="1783080"/>
            <a:ext cx="26974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72784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214884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Dashboard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2743200"/>
            <a:ext cx="2368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stats, metrics, confusion matrix, feature importance, limitations.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34856" y="15087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34856" y="15087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134856" y="1783080"/>
            <a:ext cx="26974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34856" y="1536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299448" y="214884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Use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99448" y="2743200"/>
            <a:ext cx="23682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 for bias, privacy, security, over-reliance and fairness.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5074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yourself:  </a:t>
            </a:r>
            <a:pPr indent="0" marL="0">
              <a:buNone/>
            </a:pPr>
            <a:r>
              <a:rPr lang="en-US" sz="1400" dirty="0">
                <a:solidFill>
                  <a:srgbClr val="2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 →   streamlit run app.py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fitted preprocessing + model pipeline used in training powers every live prediction — no train/serve mismatch.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89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&amp; Limitations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92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tool — never a decision-maker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68780" y="1709928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878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51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reflects two schools, one era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21488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local data; report as probabilities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1508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30852" y="1709928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3085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2651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include sensitive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85032" y="3200400"/>
            <a:ext cx="21488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47872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only; follow data-protection policy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2784" y="1508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92924" y="1709928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9292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Over-reliance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2651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may trust output blindly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47104" y="3200400"/>
            <a:ext cx="21488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9944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disclaimers; one input among several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34856" y="150876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254996" y="1709928"/>
            <a:ext cx="457200" cy="45720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54996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272016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72016" y="2651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may vary across groups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09176" y="3200400"/>
            <a:ext cx="21488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72016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metrics per subgroup before deployment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1148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68680" y="42793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system must NOT be used as the sole basis for decisions about a student’s grading, placement, discipline, or future opportunities.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technical limitations: small &amp; dated dataset (395 students, 2008) · heavy reliance on G1/G2 for best accuracy · moderate class imbalance (67% / 33%).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System  |  CAT2 Practical — ITLPA701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ML workflow — from real data to a deployed, explainable web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0756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UCI dataset · leakage-safe preprocessing pipeline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5511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documented engineered features, no target leakage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45536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02666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compared, best tuned with GridSearchCV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 accuracy, 92.2% F1 on unseen test students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096512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3977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early-warning trade-off openly reported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44531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4-page Streamlit decision-support app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349240"/>
            <a:ext cx="2011680" cy="0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532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report &amp; demo guide in the project repository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2026-10-04T17:12:09Z</dcterms:created>
  <dcterms:modified xsi:type="dcterms:W3CDTF">2026-10-04T17:12:09Z</dcterms:modified>
</cp:coreProperties>
</file>